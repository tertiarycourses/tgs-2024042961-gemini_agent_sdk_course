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course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Topic 1 — Agentic AI Overview</c:v>
                </c:pt>
                <c:pt idx="1">
                  <c:v>Topic 2 — Multi-Agent Apps</c:v>
                </c:pt>
                <c:pt idx="2">
                  <c:v>Topic 3 — Agentic RAG</c:v>
                </c:pt>
                <c:pt idx="3">
                  <c:v>Topic 4 — Streamlit App</c:v>
                </c:pt>
              </c:strCache>
            </c:strRef>
          </c:cat>
          <c:val>
            <c:numRef>
              <c:f>Sheet1!$B$2:$B$5</c:f>
              <c:numCache>
                <c:formatCode>0"%"</c:formatCode>
                <c:ptCount val="4"/>
                <c:pt idx="0">
                  <c:v>25</c:v>
                </c:pt>
                <c:pt idx="1">
                  <c:v>35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 per 1K calls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Flash</c:v>
                </c:pt>
                <c:pt idx="1">
                  <c:v>Pro</c:v>
                </c:pt>
                <c:pt idx="2">
                  <c:v>Ultra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7</c:v>
                </c:pt>
                <c:pt idx="2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Relative latency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Flash</c:v>
                </c:pt>
                <c:pt idx="1">
                  <c:v>Pro</c:v>
                </c:pt>
                <c:pt idx="2">
                  <c:v>Ultra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1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29800" y="603504"/>
            <a:ext cx="1691640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13232"/>
            <a:ext cx="1691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207008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AGENT ADK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 Multi AI Agent Applications with Gemini Agent ADK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TGS-2024042961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v1.3  ·  12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Large Language Models, agentic AI systems and applied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LLM application development, prompt engineering and data science.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APIs and Generative AI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would like to automate or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Go to the LMS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https://lms-tms.tertiaryinfotech.com in your browser.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with the account e-mail you used to register for this course.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Open this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'Develop Multi AI Agent Applications with Gemini Agent ADK'.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Guide and Lesson Plan (PDF).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Get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lab repository from GitHub — the link is on the course page.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Keep them 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these materials during the open-book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SKILLS FRAMEWORK  · 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AER-TEM-4026-1.1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 / 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algorithms in AI applications; correlate algorithm design with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 / A4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compare the strengths and limitations of AI applications.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feasibility of AI applications for engineering processes.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improvements AI applications bring to engineering processes.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Agentic AI foundations with Gemini ADK — first agents, tools, sessions and multi-agent handoff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Learning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Overview of Agentic AI in Gemini ADK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A Multi Agent App with Gemini ADK begins (Labs 5–8)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Multi-agent systems, agentic RAG and shipping an agent app with Streamlit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 continues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Build Agentic AI RAG in Gemini ADK (Labs 13–15)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Agentic AI App with Streamlit (Labs 16–18)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TRAQOM Survey · Digital Attendance (Assessment)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Analyse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Analyze the range of LLM applications using Generative AI and identify their industrial use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Establish Gemini designs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Establish Google Gemini GAI designs and assess improvements on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Develop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 LLM applications with the Agent Development Kit and assess their feasibility.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Evaluate RAG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the performance effectiveness of Retrieval Augmented Generation.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TOPICS  ·  18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— Overview of Agentic AI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LLM &amp; agentic AI foundations · the Gemini model family · ADK architecture · your first agent ·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— Build A Multi Agent App with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 &amp; state · handoff · sub-agents · workflow agents · guardrails · structured output · MCP.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— Build Agentic AI RAG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RAG pipeline · loading &amp; splitting · embeddings · vector stores · retrieval ·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4 — Agentic AI App with Gemini ADK and Streamlit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YAML agents · Streamlit chat UI · async Runner · deployment and feasibility · capstone.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Clear your desk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individually — 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may be 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Stop on 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Short-Answer Questions (SAQ) · 1 hour · open book. Tests the underpinning knowledge taught in the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Hands-on Gemini ADK agent build tasks · 1 hour · open book. Tests the ability you built in the labs.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 course slides, the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are assessed as Competent (C) or Not Yet Competent (NYC) on each instrument.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you wish to contest an assessment outcome.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QR code on the…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completed…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Assessment…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missing the digital attendance or the TRAQOM survey can invalidate your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both assessment components and be assessed as 'Competent'.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code for AM, PM and Assessment on every training 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mandatory TRAQOM course feedback survey on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to Google AI Studio at https://aistudio.google.com to create a free API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3.13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Python 3.13 and the uv package manager for the lab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course labs from GitHub — the link is on your LMS course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VS Code or any editor you are comfortable with for editing agent.py files.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Optional keys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OpenWeather and Tavily free API keys are used by the tool-calling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Bookmark the official ADK documentation at https://google.github.io/adk-docs/.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Large Language Models to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Large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model of language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LLM such as Gemini, GPT-4 or Claude is trained to understand and generate human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'large'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in both the volume of training data and the model's complexity — hundreds of billions of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Autoregressive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predicts the next token, one token at a time, conditioned on everything written so far.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Trained then inferred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Training builds the model from a huge corpus; inference is the prompt-and-response you use every 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AUTOREGRESSIVE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an LLM Produces an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prompt is broken into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attends over the full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 predicts the most likely next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token is appended and the loop repeats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Generation stops at a stop token or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WHERE LLMs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Opportunities of LLM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Content creation and writing assistance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support and chatbots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Language translation and localisation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Educational and tutoring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intelligence and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Coding and software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Legal and compliance assistance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Healthcare and clinical documentation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Enhanced search and knowledge discovery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Accessibility for persons with disabilities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INDUSTRIAL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Use Cases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Finance &amp; 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financial reporting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assessment and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Fraud detection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Contract review and drafting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Regulatory compliance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Marketing &amp; eCommerce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Content and copy generation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recommendations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sentiment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SEO and campaign optimisation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Product description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Education &amp;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learning assistance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grading and feedback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Clinical documentation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Medical imaging support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 health assistants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Popular Large Language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Google Gemini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Natively multimodal; Ultra, Pro, Flash and Nano variants — the model family used in this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OpenAI GPT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Widely adopted general-purpose family; reachable from ADK through the LiteLlm wrapper.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Anthropic Claude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Strong long-context reasoning and writing; also reachable through LiteLlm.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Meta Llama and Mistral can be self-hosted or run locally through Ollama for data-residency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LLM answers. An agent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Agentic AI adds reasoning, memory, tool use and autonomy on top of a language model — so it can complete tasks, not just produce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SIX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Makes a System 'Agentic'?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plans a sequence of steps instead of answering in one 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calls functions and APIs to fetch live data or take real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Session state lets it carry context across many turns of a conversation.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decides which tool or which specialist agent handles the request.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specialised agents divide the work and hand off between themselves.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Callbacks and policies constrain what the agent is allowed to 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CHOOSING THE RIGHT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 vs Agent vs Multi-Agent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Plain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Single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Multi-Agent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Generates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Completes a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Divides work across specialists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 — stateless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Shared session + per-agent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Its own tool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Each agent has its own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Drafting, summarising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well-defined job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Broad domains, varied requests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Main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Hallucination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Overloaded instruction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Wrong routing / handoff loops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Add agents only when one instruction can no longer describe the job clearly — complexity you don't need is complexity you must still debug.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PATTERN BEHIND EVERY ADK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Agentic Loop — Reason, Act, Observe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Perceive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 the user request and…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 which step or tool…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Call a tool, or hand off…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 the tool result back…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Answer, or loop again if…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loop is what separates an agent from a chatbot: it can take several actions before answering, and it decides how many.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an ADK Agent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 agent in this course is built from these same fields — learn to read them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from google.adk.agents import Agent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agent = Agent(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model='gemini-2.0-flash',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name='banking_assistant',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description='Handles retail banking queries',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instruction=(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'You are a bank assistant. '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'Never reveal a PIN or OTP.'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tools=[get_balance],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LLM runs the agent. Flash is fast and cheap; Pro reasons harder.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identifier used in traces and in agent-to-agent transfer.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by a PARENT agent to decide whether to hand off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system prompt — role, rules and refusals. Most behaviour lives 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Which Agent Pattern Should You 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one clear
instruction describe
the whole job?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use a single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Give it the tools it needs. Simpler to build, cheaper to run and far easier to debug. Most business tasks stop here.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use sub-agents /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Split by specialism. Use sub-agents for routing by intent, or a SequentialAgent when the order of steps is fixed.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common mistake is starting multi-agent. Start single, and split only when the instruction starts listing unrelated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 · TIME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Course Time Goes — Topic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Topic 2 carries the largest weighting because multi-agent orchestration is where most of the assessable practical skill sits — plan your revision accordingly.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ENGINEERING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Cost and Latency by Model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Moving from Flash to Ultra costs roughly 20x more and runs about 6x slower. Reach for the larger model only where the reasoning genuinely requires it — indicative figures for teaching the trade-off, not a price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ASSESSING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Gemini Model Selection —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it when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Flash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High-volume agents, tool routing, most labs in this course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Pro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Complex reasoning, long documents, quality-critical answers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Ultra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Slowest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hardest reasoning tasks where quality outweighs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Nano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On-device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Offline or mobile scenarios with privacy constraints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Model choice is an engineering trade-off, not a preference — justify it on latency, cost per call and required reasoning depth.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Single 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instruction, one set of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to build and to debug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Instruction grows unwieldy as scope widens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a narrow, well-defined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Multi-agent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specialist has its own instruction and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Scales to broad problem domains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Routing and handoff must be designed carefully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varied requests across several sub-domains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MODEL BEHIND 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Gemini?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Built by Google DeepMind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Gemini is Google's flagship model family, built from the ground up for multimodality.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Natively multimodal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reasons across text, images, video, audio and code in a single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Very large context windows allow whole documents, codebases and videos in one prompt.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Tool-ready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 function calling makes Gemini a natural fit for agentic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CHOOSING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Gemini Model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mid-tier, balanced option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Strong reasoning, broad multimodal skill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performance, cost and latency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default choice for most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Lightweight and fast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speed and efficiency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Low cost per call at high volume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Used in most labs in this 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Ultra &amp; Nano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Ultra: the most capable, for highly complex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Nano: the most efficient, runs on-device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 targets mobile and offline scenarios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by task complexity and where it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GEMINI GAI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Parameters You Can Tune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Temperature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 randomness. Low values give focused, repeatable answers; high values give creative, varied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Restricts sampling to the K most probable next tokens. Top-K of 1 always picks the single most likely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Samples from the smallest set of tokens whose probabilities sum to P — a dynamic alternative to Top-K.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 output tokens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Caps the length of the response, which directly caps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Strings that end generation immediately when produced — useful for structured formats.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settings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Thresholds that filter harmful content across several harm categories.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the Agent Development Kit (ADK)?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Open-source 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Google's Python framework for building, evaluating and deploying AI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Model-agnostic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Runs on Gemini natively, and on OpenAI, Anthropic or local models through LiteLlm.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Batteries included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Sessions, tools, callbacks, multi-agent orchestration and evaluation are all built 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Developer UI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adk web gives you a local browser IDE that shows every event, tool call and trace.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SIX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an ADK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LLM powers the agent — for example gemini-2.0-flash.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unique identifier used in traces and in agent-to-agent transfers.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this agent is for. A parent agent reads this to decide whether to hand off to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system prompt: the agent's role, rules, tone and boundaries.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functions the agent may call to fetch data or take action.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sub_agents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Specialist agents this agent may transfer control 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HOW A TURN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ADK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User message enters the 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Session history is loaded as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reasons and may emit a tool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tool runs and its result returns to the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final response is streamed back and stored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Overview of Agentic AI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LLM &amp; agentic AI foundations · Gemini model family · ADK architecture · first agent ·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Large Language Model (LLM) is trained on very large text corpora and generates language autoregressively, one token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Agentic AI adds reasoning, memory, tool use and autonomy on top of an LLM, so the model can act, not just answer.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Gemini is Google DeepMind's natively multimodal model family — Ultra, Pro, Flash and Nano — reasoning across text, image, video, audio and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Agent Development Kit (ADK) is Google's open-source Python framework for building, evaluating and deploying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Overview of Agentic AI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ADK Agent is defined by four things: a model, a name, a description and an instruction.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Tools are ordinary Python functions the agent may call; the docstring and type hints tell the model when and how to call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adk web launches a local browser IDE for chatting with an agent and inspecting every event, tool call and trace.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LiteLlm lets an ADK agent run on non-Gemini models (OpenAI, Anthropic, Ollama) without changing agent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the Gemini ADK Environment and Get an API Key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ADK Agent — A Retail Banking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Tools — Live Weather and Web Search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Swap the Model — Running an ADK Agent on a Non-Gemini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LO2 — establish a working Gemini ADK development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Install the Agent Development Kit toolchain with uv, obtain a free Google AI Studio API key, and store it safely in a .env file so every agent in the course can authenticate.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Python 3.13 project with google-adk installed and a validated GOOGLE_API_KEY.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 AI Studio, uv, Python 3.13, google-adk, python-dotenv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uv run adk --help prints the ADK usage banner listing the run, web and eval sub-commands, and no ModuleNotFoundError is raised.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Clone the course lab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 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into the labs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cd …/labs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Install all dependencies with uv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uv sync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Google AI Studio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Create a .env file in the labs folder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&gt; .env &lt;&lt;'EOF'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LO2 — establish a working Gemini ADK development environment.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Clone the course lab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git clone https://github.com/tertiarycourses/TGS-2024042961-Develop-Multi-AI-Agent-Applicatio...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into the labs folder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cd TGS-2024042961-Develop-Multi-AI-Agent-Applications-with-Gemini-Agent-ADK/labs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Install all dependencies with uv (creates the .venv automatically)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Open Google AI Studio and sign in with your Google account, then click Get API key → Create API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 .env file in the labs folder and paste your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&gt; .env &lt;&lt;'EOF'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the ADK command-line tool is on the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--help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uv run adk --help prints the ADK usage banner listing the run, web and eval sub-commands, and no ModuleNotFoundError is raised.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LO3 — define an agent from a model, name, description and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Create a single-agent banking customer-service assistant. You learn the four fields that define every ADK agent and see how the instruction alone shapes tone, scope and refusals.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lab02 — a Gemini-powered banking assistant that answers general banking questions and refuses to handle PINs, OTPs or full account numbers.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Gemini 2.0 Flash, adk run, adk 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the agent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lab02/agent.py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model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in the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an in-scope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How 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an out-of-scope question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is my account PIN?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LO3 — define an agent from a model, name, description and instruction.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agent definition and note the four required fields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lab02/agent.py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model, name, description and instruction in the Agent(...)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in the terminal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in-scope question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How do I reset my internet banking password?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out-of-scope question and observe the guarded refusal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my account PIN?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browser IDE and re-run the same prompts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Open http://localhost:8000, select lab02, and inspect the Events tab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Edit the instruction to make the assistant reply only in formal English, then re-run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LO3 — extend an agent with custom function tools and evaluate tool selection.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Add two Python function tools to an agent: a live OpenWeather lookup and a Tavily web search. You see how the docstring and type hints become the tool contract the model reads.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lab03 — an agent that decides for itself whether a question needs the weather tool, the search tool, both, or neither.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OpenWeather API, Tavily API, Gemini 2.0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Register for a free OpenWeather API key at…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Add both keys to labs/.env as…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two tool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lab03/agent.py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Observe that tools are attached with…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LO3 — extend an agent with custom function tools and evaluate tool selection.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Register for a free OpenWeather API key at openweathermap.org and a Tavily key at tavily.com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both keys to labs/.env as OPENWEATHER_API_KEY and TAVILY_API_KEY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two tool functions and note the docstring, the typed arguments and the dict return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lab03/agent.py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Observe that tools are attached with tools=[get_weather, tavily_search]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 the weather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Singapore right now?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 the search 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are the latest announcements about Google Gemini?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needing no tool and confirm none is called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15 multiplied by 12?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adk web and read the function_call and function_response events for each 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/ LO4 — compare models and assess the trade-offs for an engineering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the LiteLlm wrapper to point the same agent at an OpenAI model, then compare it with Gemini on the same prompts to judge quality, latency and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lab04 — one agent definition that runs on either Gemini or an OpenAI model by changing a single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LiteLlm, Gemini 2.0 Flash, OpenAI GPT-4.1-mini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Inspect how LiteLlm wraps a non-Google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lab04/agent.py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Add your OpenAI key to labs/.env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echo 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on the OpenAI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 reasoning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Explain 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Edit lab04/agent.py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model='gemini-2.0-flash'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/ LO4 — compare models and assess the trade-offs for an engineering process.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Swap the Model — Running an ADK Agent on a Non-Gemini LLM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how LiteLlm wraps a non-Google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lab04/agent.py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your OpenAI key to labs/.env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echo 'OPENAI_API_KEY=your-openai-key' &gt;&gt; .env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on the OpenAI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reasoning question and note the answer quality and response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Explain in three sentences why an agent needs tools.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Swap the Model — Running an ADK Agent on a Non-Gemini LLM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Edit lab04/agent.py and replace the model with a Gemini model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model='gemini-2.0-flash'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Re-run the identical prompt on Gemini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quality, latency and cost for both in a comparison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— establish a working Gemini ADK development environment.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define an agent from a model, name, description and instruction.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extend an agent with custom function tools and evaluate tool selection.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LO4 — compare models and assess the trade-offs for an engineering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 Multi Agent App with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Sessions &amp; state · handoff · sub-agents · workflow agents · guardrails · structured output ·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LLMs are stateless — a Session plus a SessionService is what gives an ADK agent memory across 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Runner is the execution engine: it takes a user message, drives the agent loop and streams back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Multi-agent handoff — a root agent with sub_agents transfers control to whichever specialist matches the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hierarchical (coordinator) pattern puts a router agent above specialised sub-agents, each with its own instruction and tools.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SequentialAgent runs sub-agents in a fixed order and passes each output forward; ParallelAgent fans them out concurrently.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 Multi Agent App with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Callbacks such as before_model_callback implement guardrails — inspect, block or rewrite a request before it reaches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output_schema with a Pydantic model forces the agent to emit validated, machine-readable JSON instead of free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Context Protocol (MCP) is an open standard that lets an agent consume tools hosted by an external server over StreamableHTTP or SSE.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Agents can also be declared declaratively in YAML config files instead of Python.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Memory — Sessions, State and the Runner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Inspect the Agent Loop — Events, Tool Calls and Final Responses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Handoff — Joke Generator to Translator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8–10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Hierarchical Multi-Agent System — The Tutor Agent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Sequential Workflow Agent — Singapore Transport Route Planner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 Guardrail — Blocking Unsafe Requests with a Callback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Output — Forcing Valid JSON with Pydantic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Connect External Tools with MCP — StreamableHTTP and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implement session management so an agent remembers earlier 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Drive an agent programmatically with a Runner and an InMemorySessionService, so the conversation persists across turns instead of restarting on every message.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lab05 — a multi-turn agent that answers follow-up questions using earlier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Runner, InMemorySessionService, google.genai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how the session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lab05/agent.py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Note the APP_NAME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session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lab05/agent.py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an initial question that establishes…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is the weather in…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 follow-up that only works if the…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And what about Osaka?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implement session management so an agent remembers earlier turns.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the session service, session and Runner are wired together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lab05/agent.py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APP_NAME, USER_ID and SESSION_ID that identify one conversation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session 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lab05/agent.py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initial question that establishes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Tokyo?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follow-up that only works if the agent remembers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And what about Osaka?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Comment out the session creation and re-run to observe the failure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Restore the session code and confirm continuity is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LO4 — analyse the agent execution loop and evaluate its behaviour.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Stream the Event objects the Runner emits and learn to read an agent trace: which event carries the tool call, which carries the tool result, and which is the final response.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lab06 — an instrumented agent that prints every event in its reasoning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Runner, Events API, InMemorySessionService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event-handling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lab06/agent.py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interaction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lab06/agent.py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Send a prompt that requires a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Find 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 the printed trace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Identify the function_response event…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LO4 — analyse the agent execution loop and evaluate its behaviour.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Inspect the Agent Loop — Events, Tool Calls and Final Responses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event-handling loop and find is_final_response()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lab06/agent.py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interaction 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lab06/agent.py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prompt that requires a 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Find the weather in Singapore and summarise recent AI news.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 the printed trace, identify the function_call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Inspect the Agent Loop — Events, Tool Calls and Final Responses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function_response event carrying the tool's return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final response event and note how many LLM calls one turn actually took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why a two-tool question produces more events than a one-tool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Joke Generator to Translator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implement agent-to-agent delegation with sub_agents.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three-level agent hierarchy where a root agent hands off to a joke generator, which in turn hands off to a translator. This is the core ADK delegation pattern.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lab07 — a root agent that produces an English joke and its Chinese translation through two automatic handoffs.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sub_agents, Gemini 2.0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'Tell me a joke' request yields an English joke followed by a Chinese translation, and the Events tab shows two transfer_to_agent calls.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three agent definitions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lab07/agent.py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Note that the description field is what the…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in the browser 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lab07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Tell me a joke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 the Events tab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implement agent-to-agent delegation with sub_agents.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Multi-Agent Handoff — Joke Generator to Translator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three agent definitions and the sub_agents 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lab07/agent.py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that the description field is what the parent reads to decide on a handoff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in the browser 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lab07 and request a joke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Tell me a joke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Multi-Agent Handoff — Joke Generator to Translator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 the Events tab, find the transfer_to_agent call into joke_generator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Find the second transfer into translator and confirm the Chinese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Weaken the translator's description to one vague word and re-run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Observe the handoff becoming unreliable, then restore the description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Joke Generator to Translator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'Tell me a joke' request yields an English joke followed by a Chinese translation, and the Events tab shows two transfer_to_agent calls.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Multi-Agent System — The Tutor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design a coordinator agent routing to specialised sub-agents.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tutoring system where one root agent routes each question to a maths, physics or history specialist, each with its own instruction and teaching style.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lab08 — a coordinator with three subject specialists that routes by topic.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sub_agents, coordinator pattern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subject question is answered by the matching specialist, visible as a transfer_to_agent event, and your new fourth specialist is routed to correctly.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 the three specialist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lab08/agent.py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Compare the three descriptions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Launch the web 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 maths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Solve 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 physics question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Explain 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design a coordinator agent routing to specialised sub-agents.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Hierarchical Multi-Agent System — The Tutor Agent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three specialist agents and the root coordinator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lab08/agent.py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the three descriptions and note how each states its routing trigger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web IDE and select lab08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maths question and confirm it routes to math_tutor_agent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Solve 2x + 5 = 17 step by step.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Hierarchical Multi-Agent System — The Tutor Agent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physics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Explain Newton's second law with an example.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history question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caused the fall of the Roman Empire?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ambiguous cross-subject question and observe how the router resolves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How did physics change during the Industrial Revolution?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fourth specialist of your own choosing to sub_agents and test the routing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Multi-Agent System — The Tutor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Each subject question is answered by the matching specialist, visible as a transfer_to_agent event, and your new fourth specialist is routed to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Sequential Workflow Agent — Singapore Transport Route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LO2 — orchestrate a fixed multi-stage pipeline with SequentialAgent.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Chain three agents in a fixed order — collect the journey, research cross-country options, then produce a full route report — using SequentialAgent with the google_search tool.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lab09 — a sequential pipeline producing a route report by MRT, bus, taxi, cycling and walking.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SequentialAgent, LlmAgent, google_search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single journey request produces one report containing all five transport modes plus a recommended fastest route, with the three stages visible in order in the Events tab.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9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three sub-agents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lab09/agent.py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Note that each agent's output is passed…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Launch the web 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Provide a journey when the first agent 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From 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Wait for all three stages to complete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LO2 — orchestrate a fixed multi-stage pipeline with SequentialAgent.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Sequential Workflow Agent — Singapore Transport Route Planner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three sub-agents and the SequentialAgent that orders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that each agent's output is passed forward as the next agent's input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web IDE and select lab09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Provide a journey when the first agent asks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From Jurong East to Changi Airport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Sequential Workflow Agent — Singapore Transport Route Planner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Wait for all three stages to complete and read the consolidated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Verify the report covers bus, MRT, taxi, cycling, walking and a fastest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why SequentialAgent, not sub_agents handoff, is the right pattern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Sequential Workflow Agent — Singapore Transport Route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single journey request produces one report containing all five transport modes plus a recommended fastest route, with the three stages visible in order in the Events tab.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LO4 — implement and evaluate a safety guardrail on an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before_model_callback to inspect every user message before it reaches the LLM, block requests containing a forbidden keyword, and record the block in session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lab10 — a tool-using agent that intercepts and refuses blocked requests without ever calling the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before_model_callback, CallbackContext, LlmRequest, LlmResponse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10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guardrail callback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lab10/agent.py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Note that returning None allows the 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an allowed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Send a request containing the blocked…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Please BLOCK this 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LO4 — implement and evaluate a safety guardrail on an agent.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Add a Guardrail — Blocking Unsafe Requests with a Callback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guardrail callback and find where it returns an LlmResponse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lab10/agent.py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that returning None allows the call and returning a response blocks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an allowed request and confirm it reaches the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Singapore?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Add a Guardrail — Blocking Unsafe Requests with a Callback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request containing the blocked keyword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Please BLOCK this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refusal message is returned and no LLM call was made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Extend the guardrail to also block a second keyword of your choice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verify both keywords are now intercepted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produce machine-readable agent output for downstream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Attach a Pydantic output_schema so the agent returns a validated Recipe object with typed fields instead of free-form prose that a downstream system cannot parse.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lab11 — an agent whose every reply is schema-valid 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Pydantic BaseModel, output_schema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Recipe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lab11/agent.py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Note the typed fields: title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 a recipe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Chicken rice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Confirm the reply is JSON with all five…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produce machine-readable agent output for downstream systems.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Structured Output — Forcing Valid JSON with Pydantic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Recipe model and the output_schema argument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lab11/agent.py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typed fields: title, ingredients, cooking_time, servings, instructions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Request a recipe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Chicken rice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Structured Output — Forcing Valid JSON with Pydantic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reply is JSON with all five fields and correct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a difficulty field to the Recipe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difficulty: str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confirm the new field appears in the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ADK restriction that an agent with output_schema cannot also use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LO2 — integrate third-party tools through the Model Context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Connect an ADK agent to a remote MCP server so it can use tools it does not own, using both the StreamableHTTP and SSE transports.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lab12 — agent.py (StreamableHTTP) and agent_sse.py (SSE), whose toolset is discovered at runtime from an MCP server.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McpToolset, StreamableHTTPConnectionParams, SseConnectionParams, n8n MCP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how McpToolset discovers tools from…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lab12/agent.py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StreamableHTTP MCP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lab12/agent.py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Send a request that exercises one of the…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the SSE variant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lab12/agent.py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Explain when SSE is preferred over…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LO2 — integrate third-party tools through the Model Context Protocol.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Connect External Tools with MCP — StreamableHTTP and SSE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McpToolset discovers tools from the server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lab12/agent.py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StreamableHTTP MCP agent and read the printed tool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lab12/agent.py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Send a request that exercises one of the discovered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Compare the SSE variant and note that only the connection params differ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lab12/agent.py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Connect External Tools with MCP — StreamableHTTP and SSE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when SSE is preferred over StreamableHTTP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Point the MCP_SERVER_URL at a different MCP server and re-run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agent's available tools change without any change to the agent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session management so an agent remembers earlier turns.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analyse the agent execution loop and evaluate its behaviour.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agent-to-agent delegation with sub_agents.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design a coordinator agent routing to specialised sub-agents.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LO2 — orchestrate a fixed multi-stage pipeline with SequentialAgent.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implement and evaluate a safety guardrail on an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Agentic AI RAG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RAG pipeline · loading &amp; splitting · embeddings · vector stores · retrieval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Retrieval Augmented Generation (RAG) grounds an LLM in your own documents, reducing hallucination and keeping answers current.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RAG pipeline is: load → split → embed → store → retrieve → generate.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Loaders convert PDF, HTML, CSV, Word and web sources into a common document object.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Splitting breaks documents into chunks small enough to embed and retrieve precisely, with overlap to preserve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embedding maps text to a dense vector so that semantically similar text sits close together in vector 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Agentic AI RAG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vector database (Chroma, FAISS, Pinecone, Milvus) stores embeddings and answers nearest-neighbour similarity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Similarity search returns the closest chunks; Maximum Marginal Relevance (MMR) trades a little similarity for diversity.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ADK, retrieval is wrapped as a tool so the agent decides when to consult the knowledge 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RAG performance is evaluated on retrieval quality, groundedness/faithfulness, answer relevance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Load, Split and Embed Documents into a Vector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Agentic RAG Agent — Retrieval as a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RAG Performance — Retrieval Quality and Groundedness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— build the ingestion half of a RAG pipeline and inspect the embeddings.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two product PDFs, extract their text, split it into retrievable chunks with page metadata, embed them and persist the vectors in a local Chroma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persistent Chroma collection holding the chunked and embedded air-fryer product and warranty manuals.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ChromaDB, pypdf, google-adk, Gemini embeddings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lab13/chroma_db exists and contains a populated air_fryer_docs collection, and you can state how the chunking rule changed the number of stored chunks.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Inspect the two source PDFs the agent will…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lab13/*.pdf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extraction 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lab13/agent.py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the chunking rule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 the agent once to trigger ingestion…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Confirm the persistent vector store was…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lab13/chroma_db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— build the ingestion half of a RAG pipeline and inspect the embeddings.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Load, Split and Embed Documents into a Vector Store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two source PDFs the agent will be grounded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lab13/*.pdf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extraction function and note the page number kept as metadata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lab13/agent.py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chunking rule and the minimum chunk length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once to trigger ingestion into ChromaDB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Load, Split and Embed Documents into a Vector Store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the persistent vector store was created on disk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lab13/chroma_db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why chunks shorter than 50 characters are discarded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the chunk rule to split on single newlines, delete chroma_db, and re-ingest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rm -rf lab13/chroma_db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the resulting chunk count and note the effect on retrieval 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lab13/chroma_db exists and contains a populated air_fryer_docs collection, and you can state how the chunking rule changed the number of stored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/ LO3 — wrap retrieval as a tool so the agent grounds its answers in your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the RAG loop: expose the vector search as an ADK tool, let the agent decide when to retrieve, and require it to cite the source document and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lab14 — a grounded question-answering agent over the air-fryer manuals with citations.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ChromaDB, similarity search, Gemini 2.0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retrieval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lab14/agent.py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Note the instruction that requires answers…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RAG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 question answerable from the product…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 question answerable only from the…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How 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/ LO3 — wrap retrieval as a tool so the agent grounds its answers in your documents.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the Agentic RAG Agent — Retrieval as a Tool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retrieval tool and note how the query is embedded before searching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lab14/agent.py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instruction that requires answers to come only from retrieved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RAG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answerable from the product manual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temperature should I use to air fry chicken wings?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the Agentic RAG Agent — Retrieval as a Tool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answerable only from the warranty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How long is the warranty period and what does it exclude?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the documents do not cover and confirm the agent declines rather than invents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share price of the manufacturer?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 adk web, inspect the retrieval function_response to see the chunks that were retrieved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Increase the number of retrieved chunks (n_results) and re-run the same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— evaluate the performance effectiveness of a RAG implementation.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small evaluation set and score your RAG agent on retrieval hit rate, groundedness, answer relevance and latency, then tune one parameter and measure the improvement.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completed RAG evaluation table with a before-and-after comparison for one tuned parameter.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lab15, ChromaDB, similarity search vs MMR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Write eight test questions: six answerable…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 each question record whether the…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For each answer record whether every claim…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Record whether the answer actually…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the hit rate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— evaluate the performance effectiveness of a RAG implementation.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RAG Performance — Retrieval Quality and Groundedness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Write eight test questions: six answerable from the PDFs, two deliberately out of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 each question record whether the correct chunk was retrieved (retrieval hit)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 each answer record whether every claim is supported by the retrieved text (groundedness)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whether the answer actually addresses the question (relevance) and its response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RAG Performance — Retrieval Quality and Groundedness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Compute the hit rate, groundedness rate and mean latency across the eight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Tune one parameter — chunk size, n_results, or switch similarity search to MMR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the same eight questions and recompute all three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State which parameter change you would keep and justify it with your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build the ingestion half of a RAG pipeline and inspect the embeddings.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/ LO3 — wrap retrieval as a tool so the agent grounds its answers in your documents.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evaluate the performance effectiveness of a RAG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an Agentic AI App with Gemini Agent ADK and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agent to product · Streamlit chat UI · async Runner · deployment &amp;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Key Concepts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production agent app needs a user interface, session handling, error handling and API-key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Streamlit turns a Python script into a web app, making it the fastest route from an ADK agent to a usable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st.session_state persists the ADK SessionService and the chat history across Streamlit re-runs.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Key Concepts — Build an Agentic AI App with Gemini Agent ADK and Streamlit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ADK Runner is async, so a Streamlit app drives it through asyncio.run() inside the request handler.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Secrets belong in .env and never in source control or in the repository you push to GitHub.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Assessing feasibility means weighing accuracy, latency, token cost, maintainability and governance against the business benefit.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Hands-On Labs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Declarative Agents — Configuring a Multi-Agent System in 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Ship the Agent as a Web App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 — Design, Build and Assess Your Own Multi-Agent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/ LO3 — separate agent configuration from code to improve maintainability.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Define a five-specialist transport assistant entirely in YAML config files, with no Python agent code, and assess what this buys you for maintainability and governance.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lab16 — a root agent with MRT, bus, taxi, bike and walk specialists, all declared in YAML.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 YAML config, LlmAgent, Gemini 2.5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List the YAML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lab16/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the root agent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lab16/root_agent.yaml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one specialist 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lab16/mrt_agent.yaml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YAML-configured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an MRT question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/ LO3 — separate agent configuration from code to improve maintainability.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Declarative Agents — Configuring a Multi-Agent System in YAML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List the YAML files and note one file per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lab16/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root agent config and its sub_agents config_path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lab16/root_agent.yaml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one specialist config and compare its fields to the Python Agent(...) arguments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lab16/mrt_agent.yaml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YAML-configured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Declarative Agents — Configuring a Multi-Agent System in YAML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MRT question and confirm it routes to mrt_agent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fastest MRT route from Bugis to Woodlands?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Ask a cycling question and confirm it routes to bike_agent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sixth specialist by creating a new YAML file and referencing it in root_agent.yaml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confirm the new specialist is routed to without touching any Python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deploy a multi-agent system behind a usable chat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Wrap the sequential transport agent in a Streamlit chat UI, wiring the async ADK Runner and persisting the session across Streamlit re-runs so the conversation survives.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lab17 — a browser chat application backed by the multi-agent transport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Streamlit, google-adk Runner, InMemorySessionService, asyncio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how the ADK session service is stored…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lab17/app.py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Note that the async Runner is driven…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the Streamlit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streamlit run lab17/app.py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the app in the browser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From Tampines to Orchard…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a follow-up question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if I cycle instead?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deploy a multi-agent system behind a usable chat interface.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Ship the Agent as a Web App with Streamlit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the ADK session service is stored in st.session_state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lab17/app.py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that the async Runner is driven through asyncio.run inside the handler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Streamlit 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streamlit run lab17/app.py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app in the browser and submit a journey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From Tampines to Orchard Road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Ship the Agent as a Web App with Streamlit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follow-up question and confirm the conversation history is retained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if I cycle instead?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Refresh the browser and observe what happens to the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the page title and icon in st.set_page_config and reload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sidebar Clear chat button that resets st.session_state.messages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Design, Build and Assess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LO2 / LO3 / LO4 — design a multi-agent solution and assess its feasibility.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 groups of three to five, design and build a multi-agent ADK application for a use case in your own industry, then present it with a feasibility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multi-agent application with at least three agents, at least two tools, session memory and a documented feasibility assessment.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 or SequentialAgent, custom tools, optional RAG and 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 a group of three to five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Identify the specialist roles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List the tools each agent needs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the agents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Add session memory so the application…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LO2 / LO3 / LO4 — design a multi-agent solution and assess its feasibility.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Design, Build and Assess Your Own Multi-Agent Application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Form a group of three to five and choose an industrial use case from your own 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specialist roles and draw the agent topology — coordinator or sequential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List the tools each agent needs and which are custom functions versus built-in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the agents, starting from the closest lab in this course as your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Design, Build and Assess Your Own Multi-Agent Application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session memory so the application handles multi-turn conversations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guardrail or a structured output schema appropriate to your use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 with at least five realistic prompts and record where the agent fails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 feasibility: accuracy, latency, token cost, maintainability and governance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Design, Build and Assess Your Own Multi-Agent Application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Present the application and the feasibility assessment to the class in five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Capstone — Design, Build and Assess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Recap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LO3 — separate agent configuration from code to improve maintainability.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deploy a multi-agent system behind a usable chat interface.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/ LO3 / LO4 — design a multi-agent solution and assess its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Explained how LLMs work and identified Generative AI use cases across finance, marketing, education, healthcare and legal.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Established Gemini designs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Chose Gemini models and tuned parameters, and assessed the improvements agents bring to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Developed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single agents, tool-using agents, multi-agent handoff, sequential workflows, guardrails, structured output and MCP integrations.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Evaluated RAG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 agentic RAG pipeline over your own PDFs and measured retrieval hit rate, groundedness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Official 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https://google.github.io/adk-docs/ — the reference for every ADK class and pattern.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AI Studio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https://aistudio.google.com — prototype prompts and manage your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lab from a blank file until the agent pattern is automatic.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Extend the capstone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RAG, a guardrail and a Streamlit UI to your own multi-agent application.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your agent to Cloud Run or Vertex AI Agent Engine for production use.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your agent to GitHub and gather feedback from real users.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Develop Generative AI Solutions with Azure OpenAI 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Mastering Prompt Engineering for Generative AI Content Creation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Build LLM Applications Using Langchain and Flowise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Digital Transformation and Business Innovation with Generative AI (GenAI)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Practical Image Generation Using GAN, VAE, and Diffusion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you can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hands-on Gemini ADK agent build tasks.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 before you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Upload your completed answers at https://lms-tms.tertiaryinfotech.com/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QR code on the…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Scan the SSG assessment QR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 book · 1 hour each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Upload your completed…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the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Sign the Assessment…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REMEMBER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five steps are mandatory for WSQ funding — missing the digital attendance or the TRAQOM survey can invalidate your claim.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evaluate multi-agent AI applications with the Gemini Agent Development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